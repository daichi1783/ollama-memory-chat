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81825"/>
          </a:solidFill>
          <a:ln w="12700">
            <a:solidFill>
              <a:srgbClr val="1818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BA6F7"/>
          </a:solidFill>
          <a:ln w="12700">
            <a:solidFill>
              <a:srgbClr val="CBA6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20116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BA6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Memoria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313244"/>
          </a:solidFill>
          <a:ln w="12700">
            <a:solidFill>
              <a:srgbClr val="CBA6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9144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App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" y="12252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記憶するオフラインAI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" y="16093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offline AI that remembers you.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1168" y="2084832"/>
            <a:ext cx="3154680" cy="0"/>
          </a:xfrm>
          <a:prstGeom prst="line">
            <a:avLst/>
          </a:prstGeom>
          <a:noFill/>
          <a:ln w="12700">
            <a:solidFill>
              <a:srgbClr val="4547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2258568"/>
            <a:ext cx="118872" cy="118872"/>
          </a:xfrm>
          <a:prstGeom prst="ellipse">
            <a:avLst/>
          </a:prstGeom>
          <a:solidFill>
            <a:srgbClr val="CBA6F7"/>
          </a:solidFill>
          <a:ln w="12700">
            <a:solidFill>
              <a:srgbClr val="CBA6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2128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会話をまたいで記憶が続く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" y="24505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他のオフラインAIにはない唯一の機能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" y="2898648"/>
            <a:ext cx="118872" cy="118872"/>
          </a:xfrm>
          <a:prstGeom prst="ellipse">
            <a:avLst/>
          </a:prstGeom>
          <a:solidFill>
            <a:srgbClr val="94E2D5"/>
          </a:solidFill>
          <a:ln w="12700">
            <a:solidFill>
              <a:srgbClr val="94E2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8529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 ↔ クラウド切替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4048" y="30906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記憶はモデルをまたいで引き継がれる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1168" y="3538728"/>
            <a:ext cx="118872" cy="118872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4930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語学学習・海外旅行に最適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4048" y="37307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文法解説・翻訳・オフライン音声入力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1168" y="4352544"/>
            <a:ext cx="3154680" cy="594360"/>
          </a:xfrm>
          <a:prstGeom prst="rect">
            <a:avLst/>
          </a:prstGeom>
          <a:solidFill>
            <a:srgbClr val="313244"/>
          </a:solidFill>
          <a:ln w="12700">
            <a:solidFill>
              <a:srgbClr val="A6E3A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1168" y="4352544"/>
            <a:ext cx="64008" cy="594360"/>
          </a:xfrm>
          <a:prstGeom prst="rect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352544"/>
            <a:ext cx="292608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</a:t>
            </a:r>
            <a:pPr indent="0" marL="0">
              <a:buNone/>
            </a:pPr>
            <a:r>
              <a:rPr lang="en-US" sz="13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¥1,500</a:t>
            </a:r>
            <a:endParaRPr lang="en-US" sz="2000" dirty="0"/>
          </a:p>
          <a:p>
            <a:pPr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買い切り  —  サブスクなし  —  永久アップデート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675888" y="164592"/>
            <a:ext cx="0" cy="4818888"/>
          </a:xfrm>
          <a:prstGeom prst="line">
            <a:avLst/>
          </a:prstGeom>
          <a:noFill/>
          <a:ln w="12700">
            <a:solidFill>
              <a:srgbClr val="4547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22192" y="91440"/>
            <a:ext cx="2551176" cy="1450848"/>
          </a:xfrm>
          <a:prstGeom prst="rect">
            <a:avLst/>
          </a:prstGeom>
          <a:solidFill>
            <a:srgbClr val="313244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22192" y="91440"/>
            <a:ext cx="2551176" cy="50292"/>
          </a:xfrm>
          <a:prstGeom prst="rect">
            <a:avLst/>
          </a:prstGeom>
          <a:solidFill>
            <a:srgbClr val="CBA6F7"/>
          </a:solidFill>
          <a:ln w="12700">
            <a:solidFill>
              <a:srgbClr val="CBA6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50208" y="201168"/>
            <a:ext cx="347472" cy="347472"/>
          </a:xfrm>
          <a:prstGeom prst="ellipse">
            <a:avLst/>
          </a:prstGeom>
          <a:solidFill>
            <a:srgbClr val="CBA6F7">
              <a:alpha val="18000"/>
            </a:srgbClr>
          </a:solidFill>
          <a:ln w="12700">
            <a:solidFill>
              <a:srgbClr val="CBA6F7">
                <a:alpha val="50000"/>
              </a:srgbClr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928" y="242316"/>
            <a:ext cx="246888" cy="24688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370832" y="192024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記憶が続く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3950208" y="612648"/>
            <a:ext cx="2322576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10往復ごとに自動要約・記憶圧縮。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セッションをまたいでAIがあなたを覚える。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競合はすべて閉じると忘れる。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6501384" y="91440"/>
            <a:ext cx="2551176" cy="1450848"/>
          </a:xfrm>
          <a:prstGeom prst="rect">
            <a:avLst/>
          </a:prstGeom>
          <a:solidFill>
            <a:srgbClr val="313244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501384" y="91440"/>
            <a:ext cx="2551176" cy="50292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629400" y="201168"/>
            <a:ext cx="347472" cy="347472"/>
          </a:xfrm>
          <a:prstGeom prst="ellipse">
            <a:avLst/>
          </a:prstGeom>
          <a:solidFill>
            <a:srgbClr val="89B4FA">
              <a:alpha val="18000"/>
            </a:srgbClr>
          </a:solidFill>
          <a:ln w="12700">
            <a:solidFill>
              <a:srgbClr val="89B4FA">
                <a:alpha val="50000"/>
              </a:srgbClr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42316"/>
            <a:ext cx="246888" cy="24688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050024" y="192024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完全オフライン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6629400" y="612648"/>
            <a:ext cx="2322576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機内・山奥・地下鉄・圏外でも動作。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通信料ゼロ。電波なし旅行・海外でも安心。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3 / Gemma 4 on-device推論。</a:t>
            </a:r>
            <a:endParaRPr lang="en-US" sz="880" dirty="0"/>
          </a:p>
        </p:txBody>
      </p:sp>
      <p:sp>
        <p:nvSpPr>
          <p:cNvPr id="35" name="Shape 31"/>
          <p:cNvSpPr/>
          <p:nvPr/>
        </p:nvSpPr>
        <p:spPr>
          <a:xfrm>
            <a:off x="3822192" y="1661160"/>
            <a:ext cx="2551176" cy="1450848"/>
          </a:xfrm>
          <a:prstGeom prst="rect">
            <a:avLst/>
          </a:prstGeom>
          <a:solidFill>
            <a:srgbClr val="313244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3822192" y="1661160"/>
            <a:ext cx="2551176" cy="50292"/>
          </a:xfrm>
          <a:prstGeom prst="rect">
            <a:avLst/>
          </a:prstGeom>
          <a:solidFill>
            <a:srgbClr val="94E2D5"/>
          </a:solidFill>
          <a:ln w="12700">
            <a:solidFill>
              <a:srgbClr val="94E2D5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950208" y="1770888"/>
            <a:ext cx="347472" cy="347472"/>
          </a:xfrm>
          <a:prstGeom prst="ellipse">
            <a:avLst/>
          </a:prstGeom>
          <a:solidFill>
            <a:srgbClr val="94E2D5">
              <a:alpha val="18000"/>
            </a:srgbClr>
          </a:solidFill>
          <a:ln w="12700">
            <a:solidFill>
              <a:srgbClr val="94E2D5">
                <a:alpha val="50000"/>
              </a:srgbClr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28" y="1812036"/>
            <a:ext cx="246888" cy="24688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4370832" y="1761744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ローカル↔クラウド切替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3950208" y="2182368"/>
            <a:ext cx="2322576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Gemma（オフライン）↔ GPT-4o / Claude /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Gemini（BYOK）を記憶を保ちながら切替。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両方を1アプリで使い分けられる唯一のAI。</a:t>
            </a:r>
            <a:endParaRPr lang="en-US" sz="880" dirty="0"/>
          </a:p>
        </p:txBody>
      </p:sp>
      <p:sp>
        <p:nvSpPr>
          <p:cNvPr id="41" name="Shape 36"/>
          <p:cNvSpPr/>
          <p:nvPr/>
        </p:nvSpPr>
        <p:spPr>
          <a:xfrm>
            <a:off x="6501384" y="1661160"/>
            <a:ext cx="2551176" cy="1450848"/>
          </a:xfrm>
          <a:prstGeom prst="rect">
            <a:avLst/>
          </a:prstGeom>
          <a:solidFill>
            <a:srgbClr val="313244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6501384" y="1661160"/>
            <a:ext cx="2551176" cy="50292"/>
          </a:xfrm>
          <a:prstGeom prst="rect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629400" y="1770888"/>
            <a:ext cx="347472" cy="347472"/>
          </a:xfrm>
          <a:prstGeom prst="ellipse">
            <a:avLst/>
          </a:prstGeom>
          <a:solidFill>
            <a:srgbClr val="F9E2AF">
              <a:alpha val="18000"/>
            </a:srgbClr>
          </a:solidFill>
          <a:ln w="12700">
            <a:solidFill>
              <a:srgbClr val="F9E2AF">
                <a:alpha val="50000"/>
              </a:srgbClr>
            </a:solidFill>
            <a:prstDash val="solid"/>
          </a:ln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812036"/>
            <a:ext cx="246888" cy="24688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7050024" y="1761744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スラッシュコマンド</a:t>
            </a:r>
            <a:endParaRPr lang="en-US" sz="1150" dirty="0"/>
          </a:p>
        </p:txBody>
      </p:sp>
      <p:sp>
        <p:nvSpPr>
          <p:cNvPr id="46" name="Text 40"/>
          <p:cNvSpPr/>
          <p:nvPr/>
        </p:nvSpPr>
        <p:spPr>
          <a:xfrm>
            <a:off x="6629400" y="2182368"/>
            <a:ext cx="2322576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/english（和→英）/japanese（英→和）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/cal（文法解説付き添削）/remember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オフラインで全コマンドが即時実行。</a:t>
            </a:r>
            <a:endParaRPr lang="en-US" sz="880" dirty="0"/>
          </a:p>
        </p:txBody>
      </p:sp>
      <p:sp>
        <p:nvSpPr>
          <p:cNvPr id="47" name="Shape 41"/>
          <p:cNvSpPr/>
          <p:nvPr/>
        </p:nvSpPr>
        <p:spPr>
          <a:xfrm>
            <a:off x="3822192" y="3230880"/>
            <a:ext cx="2551176" cy="1450848"/>
          </a:xfrm>
          <a:prstGeom prst="rect">
            <a:avLst/>
          </a:prstGeom>
          <a:solidFill>
            <a:srgbClr val="313244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2"/>
          <p:cNvSpPr/>
          <p:nvPr/>
        </p:nvSpPr>
        <p:spPr>
          <a:xfrm>
            <a:off x="3822192" y="3230880"/>
            <a:ext cx="2551176" cy="50292"/>
          </a:xfrm>
          <a:prstGeom prst="rect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3950208" y="3340608"/>
            <a:ext cx="347472" cy="347472"/>
          </a:xfrm>
          <a:prstGeom prst="ellipse">
            <a:avLst/>
          </a:prstGeom>
          <a:solidFill>
            <a:srgbClr val="A6E3A1">
              <a:alpha val="18000"/>
            </a:srgbClr>
          </a:solidFill>
          <a:ln w="12700">
            <a:solidFill>
              <a:srgbClr val="A6E3A1">
                <a:alpha val="50000"/>
              </a:srgbClr>
            </a:solidFill>
            <a:prstDash val="solid"/>
          </a:ln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5928" y="3381756"/>
            <a:ext cx="246888" cy="246888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4370832" y="3331464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3言語ネイティブ対応</a:t>
            </a:r>
            <a:endParaRPr lang="en-US" sz="1150" dirty="0"/>
          </a:p>
        </p:txBody>
      </p:sp>
      <p:sp>
        <p:nvSpPr>
          <p:cNvPr id="52" name="Text 45"/>
          <p:cNvSpPr/>
          <p:nvPr/>
        </p:nvSpPr>
        <p:spPr>
          <a:xfrm>
            <a:off x="3950208" y="3752088"/>
            <a:ext cx="2322576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UI・音声入力・コマンドがJA/EN/ES完全対応。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競合は英語のみ。日本語・スペイン語圏の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ユーザーもそのまま使える。</a:t>
            </a:r>
            <a:endParaRPr lang="en-US" sz="880" dirty="0"/>
          </a:p>
        </p:txBody>
      </p:sp>
      <p:sp>
        <p:nvSpPr>
          <p:cNvPr id="53" name="Shape 46"/>
          <p:cNvSpPr/>
          <p:nvPr/>
        </p:nvSpPr>
        <p:spPr>
          <a:xfrm>
            <a:off x="6501384" y="3230880"/>
            <a:ext cx="2551176" cy="1450848"/>
          </a:xfrm>
          <a:prstGeom prst="rect">
            <a:avLst/>
          </a:prstGeom>
          <a:solidFill>
            <a:srgbClr val="313244"/>
          </a:solidFill>
          <a:ln w="12700">
            <a:solidFill>
              <a:srgbClr val="3132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4" name="Shape 47"/>
          <p:cNvSpPr/>
          <p:nvPr/>
        </p:nvSpPr>
        <p:spPr>
          <a:xfrm>
            <a:off x="6501384" y="3230880"/>
            <a:ext cx="2551176" cy="50292"/>
          </a:xfrm>
          <a:prstGeom prst="rect">
            <a:avLst/>
          </a:prstGeom>
          <a:solidFill>
            <a:srgbClr val="F38BA8"/>
          </a:solidFill>
          <a:ln w="12700">
            <a:solidFill>
              <a:srgbClr val="F38BA8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6629400" y="3340608"/>
            <a:ext cx="347472" cy="347472"/>
          </a:xfrm>
          <a:prstGeom prst="ellipse">
            <a:avLst/>
          </a:prstGeom>
          <a:solidFill>
            <a:srgbClr val="F38BA8">
              <a:alpha val="18000"/>
            </a:srgbClr>
          </a:solidFill>
          <a:ln w="12700">
            <a:solidFill>
              <a:srgbClr val="F38BA8">
                <a:alpha val="50000"/>
              </a:srgbClr>
            </a:solidFill>
            <a:prstDash val="solid"/>
          </a:ln>
        </p:spPr>
      </p:sp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381756"/>
            <a:ext cx="246888" cy="246888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7050024" y="3331464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完全プライバシー</a:t>
            </a:r>
            <a:endParaRPr lang="en-US" sz="1150" dirty="0"/>
          </a:p>
        </p:txBody>
      </p:sp>
      <p:sp>
        <p:nvSpPr>
          <p:cNvPr id="58" name="Text 50"/>
          <p:cNvSpPr/>
          <p:nvPr/>
        </p:nvSpPr>
        <p:spPr>
          <a:xfrm>
            <a:off x="6629400" y="3752088"/>
            <a:ext cx="2322576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アカウント不要。クラウド処理なし。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データはiPhone内SQLiteのみに保存。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APIキーはiOS Keychainで暗号化保管。</a:t>
            </a:r>
            <a:endParaRPr lang="en-US" sz="880" dirty="0"/>
          </a:p>
        </p:txBody>
      </p:sp>
      <p:sp>
        <p:nvSpPr>
          <p:cNvPr id="59" name="Shape 51"/>
          <p:cNvSpPr/>
          <p:nvPr/>
        </p:nvSpPr>
        <p:spPr>
          <a:xfrm>
            <a:off x="3822192" y="4754880"/>
            <a:ext cx="5230368" cy="388620"/>
          </a:xfrm>
          <a:prstGeom prst="rect">
            <a:avLst/>
          </a:prstGeom>
          <a:solidFill>
            <a:srgbClr val="11111B"/>
          </a:solidFill>
          <a:ln w="12700">
            <a:solidFill>
              <a:srgbClr val="11111B"/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3982212" y="4825746"/>
            <a:ext cx="749808" cy="246888"/>
          </a:xfrm>
          <a:prstGeom prst="roundRect">
            <a:avLst>
              <a:gd name="adj" fmla="val 25926"/>
            </a:avLst>
          </a:prstGeom>
          <a:solidFill>
            <a:srgbClr val="CBA6F7">
              <a:alpha val="22000"/>
            </a:srgbClr>
          </a:solidFill>
          <a:ln w="12700">
            <a:solidFill>
              <a:srgbClr val="CBA6F7">
                <a:alpha val="65000"/>
              </a:srgbClr>
            </a:solidFill>
            <a:prstDash val="solid"/>
          </a:ln>
        </p:spPr>
      </p:sp>
      <p:sp>
        <p:nvSpPr>
          <p:cNvPr id="61" name="Text 53"/>
          <p:cNvSpPr/>
          <p:nvPr/>
        </p:nvSpPr>
        <p:spPr>
          <a:xfrm>
            <a:off x="3982212" y="482574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記憶継続</a:t>
            </a:r>
            <a:endParaRPr lang="en-US" sz="800" dirty="0"/>
          </a:p>
        </p:txBody>
      </p:sp>
      <p:sp>
        <p:nvSpPr>
          <p:cNvPr id="62" name="Shape 54"/>
          <p:cNvSpPr/>
          <p:nvPr/>
        </p:nvSpPr>
        <p:spPr>
          <a:xfrm>
            <a:off x="4814316" y="4825746"/>
            <a:ext cx="749808" cy="246888"/>
          </a:xfrm>
          <a:prstGeom prst="roundRect">
            <a:avLst>
              <a:gd name="adj" fmla="val 25926"/>
            </a:avLst>
          </a:prstGeom>
          <a:solidFill>
            <a:srgbClr val="94E2D5">
              <a:alpha val="22000"/>
            </a:srgbClr>
          </a:solidFill>
          <a:ln w="12700">
            <a:solidFill>
              <a:srgbClr val="94E2D5">
                <a:alpha val="65000"/>
              </a:srgbClr>
            </a:solidFill>
            <a:prstDash val="solid"/>
          </a:ln>
        </p:spPr>
      </p:sp>
      <p:sp>
        <p:nvSpPr>
          <p:cNvPr id="63" name="Text 55"/>
          <p:cNvSpPr/>
          <p:nvPr/>
        </p:nvSpPr>
        <p:spPr>
          <a:xfrm>
            <a:off x="4814316" y="482574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E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クラウド切替</a:t>
            </a:r>
            <a:endParaRPr lang="en-US" sz="800" dirty="0"/>
          </a:p>
        </p:txBody>
      </p:sp>
      <p:sp>
        <p:nvSpPr>
          <p:cNvPr id="64" name="Shape 56"/>
          <p:cNvSpPr/>
          <p:nvPr/>
        </p:nvSpPr>
        <p:spPr>
          <a:xfrm>
            <a:off x="5646420" y="4825746"/>
            <a:ext cx="749808" cy="246888"/>
          </a:xfrm>
          <a:prstGeom prst="roundRect">
            <a:avLst>
              <a:gd name="adj" fmla="val 25926"/>
            </a:avLst>
          </a:prstGeom>
          <a:solidFill>
            <a:srgbClr val="A6E3A1">
              <a:alpha val="22000"/>
            </a:srgbClr>
          </a:solidFill>
          <a:ln w="12700">
            <a:solidFill>
              <a:srgbClr val="A6E3A1">
                <a:alpha val="65000"/>
              </a:srgbClr>
            </a:solidFill>
            <a:prstDash val="solid"/>
          </a:ln>
        </p:spPr>
      </p:sp>
      <p:sp>
        <p:nvSpPr>
          <p:cNvPr id="65" name="Text 57"/>
          <p:cNvSpPr/>
          <p:nvPr/>
        </p:nvSpPr>
        <p:spPr>
          <a:xfrm>
            <a:off x="5646420" y="482574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3言語UI</a:t>
            </a:r>
            <a:endParaRPr lang="en-US" sz="800" dirty="0"/>
          </a:p>
        </p:txBody>
      </p:sp>
      <p:sp>
        <p:nvSpPr>
          <p:cNvPr id="66" name="Shape 58"/>
          <p:cNvSpPr/>
          <p:nvPr/>
        </p:nvSpPr>
        <p:spPr>
          <a:xfrm>
            <a:off x="6478524" y="4825746"/>
            <a:ext cx="749808" cy="246888"/>
          </a:xfrm>
          <a:prstGeom prst="roundRect">
            <a:avLst>
              <a:gd name="adj" fmla="val 25926"/>
            </a:avLst>
          </a:prstGeom>
          <a:solidFill>
            <a:srgbClr val="F9E2AF">
              <a:alpha val="22000"/>
            </a:srgbClr>
          </a:solidFill>
          <a:ln w="12700">
            <a:solidFill>
              <a:srgbClr val="F9E2AF">
                <a:alpha val="65000"/>
              </a:srgbClr>
            </a:solidFill>
            <a:prstDash val="solid"/>
          </a:ln>
        </p:spPr>
      </p:sp>
      <p:sp>
        <p:nvSpPr>
          <p:cNvPr id="67" name="Text 59"/>
          <p:cNvSpPr/>
          <p:nvPr/>
        </p:nvSpPr>
        <p:spPr>
          <a:xfrm>
            <a:off x="6478524" y="482574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コマンド機能</a:t>
            </a:r>
            <a:endParaRPr lang="en-US" sz="800" dirty="0"/>
          </a:p>
        </p:txBody>
      </p:sp>
      <p:sp>
        <p:nvSpPr>
          <p:cNvPr id="68" name="Shape 60"/>
          <p:cNvSpPr/>
          <p:nvPr/>
        </p:nvSpPr>
        <p:spPr>
          <a:xfrm>
            <a:off x="7310628" y="4825746"/>
            <a:ext cx="749808" cy="246888"/>
          </a:xfrm>
          <a:prstGeom prst="roundRect">
            <a:avLst>
              <a:gd name="adj" fmla="val 25926"/>
            </a:avLst>
          </a:prstGeom>
          <a:solidFill>
            <a:srgbClr val="FAB387">
              <a:alpha val="22000"/>
            </a:srgbClr>
          </a:solidFill>
          <a:ln w="12700">
            <a:solidFill>
              <a:srgbClr val="FAB387">
                <a:alpha val="65000"/>
              </a:srgbClr>
            </a:solidFill>
            <a:prstDash val="solid"/>
          </a:ln>
        </p:spPr>
      </p:sp>
      <p:sp>
        <p:nvSpPr>
          <p:cNvPr id="69" name="Text 61"/>
          <p:cNvSpPr/>
          <p:nvPr/>
        </p:nvSpPr>
        <p:spPr>
          <a:xfrm>
            <a:off x="7310628" y="482574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買い切り</a:t>
            </a:r>
            <a:endParaRPr lang="en-US" sz="800" dirty="0"/>
          </a:p>
        </p:txBody>
      </p:sp>
      <p:sp>
        <p:nvSpPr>
          <p:cNvPr id="70" name="Shape 62"/>
          <p:cNvSpPr/>
          <p:nvPr/>
        </p:nvSpPr>
        <p:spPr>
          <a:xfrm>
            <a:off x="8142732" y="4825746"/>
            <a:ext cx="749808" cy="246888"/>
          </a:xfrm>
          <a:prstGeom prst="roundRect">
            <a:avLst>
              <a:gd name="adj" fmla="val 25926"/>
            </a:avLst>
          </a:prstGeom>
          <a:solidFill>
            <a:srgbClr val="F38BA8">
              <a:alpha val="22000"/>
            </a:srgbClr>
          </a:solidFill>
          <a:ln w="12700">
            <a:solidFill>
              <a:srgbClr val="F38BA8">
                <a:alpha val="65000"/>
              </a:srgbClr>
            </a:solidFill>
            <a:prstDash val="solid"/>
          </a:ln>
        </p:spPr>
      </p:sp>
      <p:sp>
        <p:nvSpPr>
          <p:cNvPr id="71" name="Text 63"/>
          <p:cNvSpPr/>
          <p:nvPr/>
        </p:nvSpPr>
        <p:spPr>
          <a:xfrm>
            <a:off x="8142732" y="482574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プライバシー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Memoria — App Overview</dc:title>
  <dc:subject>PptxGenJS Presentation</dc:subject>
  <dc:creator>PptxGenJS</dc:creator>
  <cp:lastModifiedBy>PptxGenJS</cp:lastModifiedBy>
  <cp:revision>1</cp:revision>
  <dcterms:created xsi:type="dcterms:W3CDTF">2026-04-18T06:53:27Z</dcterms:created>
  <dcterms:modified xsi:type="dcterms:W3CDTF">2026-04-18T06:53:27Z</dcterms:modified>
</cp:coreProperties>
</file>